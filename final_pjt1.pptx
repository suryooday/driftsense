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67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embeddedFontLst>
    <p:embeddedFont>
      <p:font typeface="DM Sans" pitchFamily="2" charset="77"/>
      <p:regular r:id="rId14"/>
      <p:italic r:id="rId15"/>
    </p:embeddedFont>
    <p:embeddedFont>
      <p:font typeface="DM Sans Bold" pitchFamily="2" charset="77"/>
      <p:regular r:id="rId16"/>
      <p:bold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4"/>
    <p:restoredTop sz="94610"/>
  </p:normalViewPr>
  <p:slideViewPr>
    <p:cSldViewPr snapToGrid="0" snapToObjects="1">
      <p:cViewPr>
        <p:scale>
          <a:sx n="135" d="100"/>
          <a:sy n="135" d="100"/>
        </p:scale>
        <p:origin x="1944" y="1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6338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7CCFA7-7030-5143-8713-B1234DD48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419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5F98399C-CE77-A3AE-5D87-0800BDD6616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80" y="137160"/>
            <a:ext cx="8846820" cy="4784699"/>
          </a:xfrm>
          <a:prstGeom prst="rect">
            <a:avLst/>
          </a:prstGeom>
        </p:spPr>
      </p:pic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5549E268-5348-CFA5-7F77-CEA8731F802C}"/>
              </a:ext>
            </a:extLst>
          </p:cNvPr>
          <p:cNvSpPr txBox="1">
            <a:spLocks/>
          </p:cNvSpPr>
          <p:nvPr/>
        </p:nvSpPr>
        <p:spPr>
          <a:xfrm>
            <a:off x="358385" y="-220980"/>
            <a:ext cx="4564135" cy="266265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ts val="9520"/>
              </a:lnSpc>
              <a:spcBef>
                <a:spcPts val="135"/>
              </a:spcBef>
            </a:pPr>
            <a:r>
              <a:rPr lang="en-IN" spc="-10" dirty="0">
                <a:solidFill>
                  <a:srgbClr val="05264D"/>
                </a:solidFill>
              </a:rPr>
              <a:t>Quantum-Meta-</a:t>
            </a:r>
            <a:r>
              <a:rPr lang="en-IN" spc="-25" dirty="0">
                <a:solidFill>
                  <a:srgbClr val="05264D"/>
                </a:solidFill>
              </a:rPr>
              <a:t>Sat</a:t>
            </a:r>
            <a:endParaRPr lang="en-IN" dirty="0"/>
          </a:p>
          <a:p>
            <a:pPr marL="19685" marR="13970" indent="-635">
              <a:lnSpc>
                <a:spcPct val="93800"/>
              </a:lnSpc>
              <a:spcBef>
                <a:spcPts val="285"/>
              </a:spcBef>
            </a:pPr>
            <a:r>
              <a:rPr lang="en-IN" sz="2400" spc="-140" dirty="0">
                <a:solidFill>
                  <a:srgbClr val="212121"/>
                </a:solidFill>
              </a:rPr>
              <a:t>Meta-</a:t>
            </a:r>
            <a:r>
              <a:rPr lang="en-IN" sz="2400" spc="-65" dirty="0">
                <a:solidFill>
                  <a:srgbClr val="212121"/>
                </a:solidFill>
              </a:rPr>
              <a:t>Learning</a:t>
            </a:r>
            <a:r>
              <a:rPr lang="en-IN" sz="2400" spc="-5" dirty="0">
                <a:solidFill>
                  <a:srgbClr val="212121"/>
                </a:solidFill>
              </a:rPr>
              <a:t> </a:t>
            </a:r>
            <a:r>
              <a:rPr lang="en-IN" sz="2400" spc="-125" dirty="0">
                <a:solidFill>
                  <a:srgbClr val="232323"/>
                </a:solidFill>
              </a:rPr>
              <a:t>Enabled</a:t>
            </a:r>
            <a:r>
              <a:rPr lang="en-IN" sz="2400" spc="-145" dirty="0">
                <a:solidFill>
                  <a:srgbClr val="232323"/>
                </a:solidFill>
              </a:rPr>
              <a:t> </a:t>
            </a:r>
            <a:r>
              <a:rPr lang="en-IN" sz="2400" spc="-10" dirty="0">
                <a:solidFill>
                  <a:srgbClr val="232323"/>
                </a:solidFill>
              </a:rPr>
              <a:t>Hybrid </a:t>
            </a:r>
            <a:r>
              <a:rPr lang="en-IN" sz="2400" spc="-105" dirty="0">
                <a:solidFill>
                  <a:srgbClr val="1C1C1C"/>
                </a:solidFill>
              </a:rPr>
              <a:t>Quantum-</a:t>
            </a:r>
            <a:r>
              <a:rPr lang="en-IN" sz="2400" spc="-85" dirty="0">
                <a:solidFill>
                  <a:srgbClr val="1C1C1C"/>
                </a:solidFill>
              </a:rPr>
              <a:t>Classical</a:t>
            </a:r>
            <a:r>
              <a:rPr lang="en-IN" sz="2400" spc="-200" dirty="0">
                <a:solidFill>
                  <a:srgbClr val="1C1C1C"/>
                </a:solidFill>
              </a:rPr>
              <a:t> </a:t>
            </a:r>
            <a:r>
              <a:rPr lang="en-IN" sz="2400" spc="-95" dirty="0">
                <a:solidFill>
                  <a:srgbClr val="1F1F1F"/>
                </a:solidFill>
              </a:rPr>
              <a:t>Neural</a:t>
            </a:r>
            <a:r>
              <a:rPr lang="en-IN" sz="2400" spc="-20" dirty="0">
                <a:solidFill>
                  <a:srgbClr val="1F1F1F"/>
                </a:solidFill>
              </a:rPr>
              <a:t> </a:t>
            </a:r>
            <a:r>
              <a:rPr lang="en-IN" sz="2400" spc="-60" dirty="0">
                <a:solidFill>
                  <a:srgbClr val="262626"/>
                </a:solidFill>
              </a:rPr>
              <a:t>Networks </a:t>
            </a:r>
            <a:r>
              <a:rPr lang="en-IN" sz="2400" dirty="0">
                <a:solidFill>
                  <a:srgbClr val="1C1C1C"/>
                </a:solidFill>
              </a:rPr>
              <a:t>for</a:t>
            </a:r>
            <a:r>
              <a:rPr lang="en-IN" sz="2400" spc="-160" dirty="0">
                <a:solidFill>
                  <a:srgbClr val="1C1C1C"/>
                </a:solidFill>
              </a:rPr>
              <a:t> </a:t>
            </a:r>
            <a:r>
              <a:rPr lang="en-IN" sz="2400" spc="-65" dirty="0">
                <a:solidFill>
                  <a:srgbClr val="2A2A2A"/>
                </a:solidFill>
              </a:rPr>
              <a:t>Adaptive</a:t>
            </a:r>
            <a:r>
              <a:rPr lang="en-IN" sz="2400" spc="-160" dirty="0">
                <a:solidFill>
                  <a:srgbClr val="2A2A2A"/>
                </a:solidFill>
              </a:rPr>
              <a:t> </a:t>
            </a:r>
            <a:r>
              <a:rPr lang="en-IN" sz="2400" spc="-135" dirty="0">
                <a:solidFill>
                  <a:srgbClr val="1F1F1F"/>
                </a:solidFill>
              </a:rPr>
              <a:t>Channel</a:t>
            </a:r>
            <a:r>
              <a:rPr lang="en-IN" sz="2400" spc="-90" dirty="0">
                <a:solidFill>
                  <a:srgbClr val="1F1F1F"/>
                </a:solidFill>
              </a:rPr>
              <a:t> </a:t>
            </a:r>
            <a:r>
              <a:rPr lang="en-IN" sz="2400" spc="-20" dirty="0">
                <a:solidFill>
                  <a:srgbClr val="1F1F1F"/>
                </a:solidFill>
              </a:rPr>
              <a:t>Estimation</a:t>
            </a:r>
            <a:r>
              <a:rPr lang="en-IN" sz="2400" spc="-45" dirty="0">
                <a:solidFill>
                  <a:srgbClr val="1F1F1F"/>
                </a:solidFill>
              </a:rPr>
              <a:t> </a:t>
            </a:r>
            <a:r>
              <a:rPr lang="en-IN" sz="2400" spc="-25" dirty="0">
                <a:solidFill>
                  <a:srgbClr val="262626"/>
                </a:solidFill>
              </a:rPr>
              <a:t>in </a:t>
            </a:r>
            <a:r>
              <a:rPr lang="en-IN" sz="2400" spc="-470" dirty="0">
                <a:solidFill>
                  <a:srgbClr val="2A3854"/>
                </a:solidFill>
              </a:rPr>
              <a:t>L     E   O</a:t>
            </a:r>
            <a:r>
              <a:rPr lang="en-IN" sz="2400" spc="-5" dirty="0">
                <a:solidFill>
                  <a:srgbClr val="2A3854"/>
                </a:solidFill>
              </a:rPr>
              <a:t> </a:t>
            </a:r>
            <a:r>
              <a:rPr lang="en-IN" sz="2400" spc="-30" dirty="0">
                <a:solidFill>
                  <a:srgbClr val="262626"/>
                </a:solidFill>
              </a:rPr>
              <a:t>Satellite</a:t>
            </a:r>
            <a:r>
              <a:rPr lang="en-IN" sz="2400" spc="-200" dirty="0">
                <a:solidFill>
                  <a:srgbClr val="262626"/>
                </a:solidFill>
              </a:rPr>
              <a:t> </a:t>
            </a:r>
            <a:r>
              <a:rPr lang="en-IN" sz="2400" spc="-10" dirty="0">
                <a:solidFill>
                  <a:srgbClr val="232323"/>
                </a:solidFill>
              </a:rPr>
              <a:t>Communications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AAECF3-D9D7-CDB7-665C-D0996D07699D}"/>
              </a:ext>
            </a:extLst>
          </p:cNvPr>
          <p:cNvSpPr txBox="1"/>
          <p:nvPr/>
        </p:nvSpPr>
        <p:spPr>
          <a:xfrm>
            <a:off x="324047" y="2830292"/>
            <a:ext cx="3702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Candidates- Aditya, </a:t>
            </a:r>
            <a:r>
              <a:rPr lang="en-IN" dirty="0" err="1"/>
              <a:t>Suryoday</a:t>
            </a:r>
            <a:r>
              <a:rPr lang="en-IN" dirty="0"/>
              <a:t>  &amp; Ansh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0CC0A1-5535-231B-F668-A4FCBE8C6F1A}"/>
              </a:ext>
            </a:extLst>
          </p:cNvPr>
          <p:cNvSpPr txBox="1"/>
          <p:nvPr/>
        </p:nvSpPr>
        <p:spPr>
          <a:xfrm>
            <a:off x="342900" y="3169920"/>
            <a:ext cx="49422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Registration no.- 23BEC1384, 23BEC1304 and 23BEC1336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20941C-FA74-FD84-C4F7-7EC928AB9B7A}"/>
              </a:ext>
            </a:extLst>
          </p:cNvPr>
          <p:cNvSpPr txBox="1"/>
          <p:nvPr/>
        </p:nvSpPr>
        <p:spPr>
          <a:xfrm>
            <a:off x="342900" y="3448489"/>
            <a:ext cx="4416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Department- Electronics and Communication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E08ED9-43D3-DC32-BDEA-189B6C9DFF2C}"/>
              </a:ext>
            </a:extLst>
          </p:cNvPr>
          <p:cNvSpPr txBox="1"/>
          <p:nvPr/>
        </p:nvSpPr>
        <p:spPr>
          <a:xfrm>
            <a:off x="343145" y="3780199"/>
            <a:ext cx="4706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College- Vellore Institute of Technology, Chennai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BA45B7-EC29-F40F-5694-1767E2CEED94}"/>
              </a:ext>
            </a:extLst>
          </p:cNvPr>
          <p:cNvSpPr txBox="1"/>
          <p:nvPr/>
        </p:nvSpPr>
        <p:spPr>
          <a:xfrm>
            <a:off x="358385" y="4089546"/>
            <a:ext cx="2025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Guide- Dr. Sridhar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F26623-9C33-37CE-69E2-E479EE6FACFF}"/>
              </a:ext>
            </a:extLst>
          </p:cNvPr>
          <p:cNvSpPr txBox="1"/>
          <p:nvPr/>
        </p:nvSpPr>
        <p:spPr>
          <a:xfrm>
            <a:off x="324047" y="4458878"/>
            <a:ext cx="2886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Review Stage- Zeroth Review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549405-47D3-33DB-3DF8-6EE237A5099F}"/>
              </a:ext>
            </a:extLst>
          </p:cNvPr>
          <p:cNvSpPr/>
          <p:nvPr/>
        </p:nvSpPr>
        <p:spPr>
          <a:xfrm>
            <a:off x="7970520" y="4921859"/>
            <a:ext cx="1173480" cy="1683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153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422895"/>
            <a:ext cx="847204" cy="137964"/>
          </a:xfrm>
          <a:prstGeom prst="roundRect">
            <a:avLst>
              <a:gd name="adj" fmla="val 7899"/>
            </a:avLst>
          </a:prstGeom>
          <a:noFill/>
          <a:ln w="4763">
            <a:solidFill>
              <a:srgbClr val="E04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3979590" y="450131"/>
            <a:ext cx="1195462" cy="83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 STATEMENT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3925119" y="584076"/>
            <a:ext cx="4722763" cy="298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LEO Channels Are Highly Dynamic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3925119" y="969318"/>
            <a:ext cx="4722763" cy="244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received signal follows </a:t>
            </a:r>
            <a:r>
              <a:rPr lang="en-US" sz="7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 = hx + n</a:t>
            </a: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The receiver must estimate </a:t>
            </a:r>
            <a:r>
              <a:rPr lang="en-US" sz="7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\hat{h}</a:t>
            </a: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from a channel where </a:t>
            </a:r>
            <a:r>
              <a:rPr lang="en-US" sz="7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h(t_1) \neq h(t_2)</a:t>
            </a: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with rapid geometry changes, high Doppler, and variable fading.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3925119" y="1279327"/>
            <a:ext cx="4722763" cy="815132"/>
          </a:xfrm>
          <a:prstGeom prst="roundRect">
            <a:avLst>
              <a:gd name="adj" fmla="val 167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015904" y="1370112"/>
            <a:ext cx="272430" cy="272430"/>
          </a:xfrm>
          <a:prstGeom prst="ellipse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90839" y="1445047"/>
            <a:ext cx="122560" cy="1225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15904" y="1700659"/>
            <a:ext cx="4541193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Rapid Elevation Changes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015904" y="1884536"/>
            <a:ext cx="4541193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20°–90° satellite-ground geometry shifts rapidly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3925119" y="2152576"/>
            <a:ext cx="4722763" cy="815132"/>
          </a:xfrm>
          <a:prstGeom prst="roundRect">
            <a:avLst>
              <a:gd name="adj" fmla="val 167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4015904" y="2243361"/>
            <a:ext cx="272430" cy="272430"/>
          </a:xfrm>
          <a:prstGeom prst="ellipse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90839" y="2318296"/>
            <a:ext cx="122560" cy="1225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015904" y="2573908"/>
            <a:ext cx="4541193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High Doppler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4015904" y="2757785"/>
            <a:ext cx="4541193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 to ~100 kHz from high relative velocity</a:t>
            </a:r>
            <a:endParaRPr lang="en-US" sz="700" dirty="0"/>
          </a:p>
        </p:txBody>
      </p:sp>
      <p:sp>
        <p:nvSpPr>
          <p:cNvPr id="17" name="Shape 12"/>
          <p:cNvSpPr/>
          <p:nvPr/>
        </p:nvSpPr>
        <p:spPr>
          <a:xfrm>
            <a:off x="3925119" y="3025825"/>
            <a:ext cx="4722763" cy="815132"/>
          </a:xfrm>
          <a:prstGeom prst="roundRect">
            <a:avLst>
              <a:gd name="adj" fmla="val 167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4015904" y="3116610"/>
            <a:ext cx="272430" cy="272430"/>
          </a:xfrm>
          <a:prstGeom prst="ellipse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90839" y="3191545"/>
            <a:ext cx="122560" cy="1225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015904" y="3447157"/>
            <a:ext cx="4541193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Variable Fading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015904" y="3631034"/>
            <a:ext cx="4541193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Shadowed-Rician fading with changing propagation conditions</a:t>
            </a:r>
            <a:endParaRPr lang="en-US" sz="700" dirty="0"/>
          </a:p>
        </p:txBody>
      </p:sp>
      <p:sp>
        <p:nvSpPr>
          <p:cNvPr id="22" name="Shape 16"/>
          <p:cNvSpPr/>
          <p:nvPr/>
        </p:nvSpPr>
        <p:spPr>
          <a:xfrm>
            <a:off x="3925119" y="3899074"/>
            <a:ext cx="4722763" cy="821457"/>
          </a:xfrm>
          <a:prstGeom prst="roundRect">
            <a:avLst>
              <a:gd name="adj" fmla="val 165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7"/>
          <p:cNvSpPr/>
          <p:nvPr/>
        </p:nvSpPr>
        <p:spPr>
          <a:xfrm>
            <a:off x="4015904" y="3989859"/>
            <a:ext cx="272430" cy="272430"/>
          </a:xfrm>
          <a:prstGeom prst="ellipse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90839" y="4064794"/>
            <a:ext cx="122560" cy="1225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015904" y="4320406"/>
            <a:ext cx="4541193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Unpredictable Channel State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4015904" y="4504283"/>
            <a:ext cx="4541193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Time-varying: </a:t>
            </a:r>
            <a:r>
              <a:rPr lang="en-US" sz="7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h(t_1) \neq h(t_2)</a:t>
            </a:r>
            <a:endParaRPr lang="en-US" sz="7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50676B4-1BD6-C230-1631-98BF87295CC8}"/>
              </a:ext>
            </a:extLst>
          </p:cNvPr>
          <p:cNvSpPr/>
          <p:nvPr/>
        </p:nvSpPr>
        <p:spPr>
          <a:xfrm>
            <a:off x="7970520" y="4883759"/>
            <a:ext cx="1173480" cy="1683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412924" cy="107603"/>
          </a:xfrm>
          <a:prstGeom prst="roundRect">
            <a:avLst>
              <a:gd name="adj" fmla="val 7905"/>
            </a:avLst>
          </a:prstGeom>
          <a:noFill/>
          <a:ln w="4763">
            <a:solidFill>
              <a:srgbClr val="E04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38609" y="411063"/>
            <a:ext cx="785143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MOTIVATION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From Conventional ML to Adaptive Quantum Learning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96118" y="1950720"/>
            <a:ext cx="3489142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Existing approaches each address part of the challenge — but none combine </a:t>
            </a:r>
            <a:r>
              <a:rPr lang="en-US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fast few-shot adaptation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with </a:t>
            </a:r>
            <a:r>
              <a:rPr lang="en-US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parameter-efficient quantum architectures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dynamic LEO channels. QuantumMeta-Sat proposes to bridge this gap.</a:t>
            </a: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b="4310"/>
          <a:stretch>
            <a:fillRect/>
          </a:stretch>
        </p:blipFill>
        <p:spPr>
          <a:xfrm>
            <a:off x="4504983" y="723647"/>
            <a:ext cx="4555197" cy="43588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486594" cy="107603"/>
          </a:xfrm>
          <a:prstGeom prst="roundRect">
            <a:avLst>
              <a:gd name="adj" fmla="val 7905"/>
            </a:avLst>
          </a:prstGeom>
          <a:noFill/>
          <a:ln w="4763">
            <a:solidFill>
              <a:srgbClr val="E04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38609" y="411063"/>
            <a:ext cx="858813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ARCHITECTURE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QuantumMeta-Sat: End-to-End Architecture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97272"/>
            <a:ext cx="73152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4951884"/>
            <a:ext cx="8608963" cy="8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Meta-training occurs offline at the ground station. Onboard adaptation requires only </a:t>
            </a:r>
            <a:r>
              <a:rPr lang="en-US" sz="55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10–20 pilot symbols</a:t>
            </a:r>
            <a:r>
              <a:rPr lang="en-US" sz="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r>
              <a:rPr lang="en-US" sz="55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5–10 gradient updates</a:t>
            </a:r>
            <a:r>
              <a:rPr lang="en-US" sz="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produce </a:t>
            </a:r>
            <a:r>
              <a:rPr lang="en-US" sz="55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\hat{h}</a:t>
            </a:r>
            <a:r>
              <a:rPr lang="en-US" sz="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5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B6F5E0-C9F2-221C-4566-2514020FEEBF}"/>
              </a:ext>
            </a:extLst>
          </p:cNvPr>
          <p:cNvSpPr/>
          <p:nvPr/>
        </p:nvSpPr>
        <p:spPr>
          <a:xfrm>
            <a:off x="7947660" y="4883759"/>
            <a:ext cx="1173480" cy="1683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424681"/>
            <a:ext cx="1357759" cy="164902"/>
          </a:xfrm>
          <a:prstGeom prst="roundRect">
            <a:avLst>
              <a:gd name="adj" fmla="val 7899"/>
            </a:avLst>
          </a:prstGeom>
          <a:noFill/>
          <a:ln w="4763">
            <a:solidFill>
              <a:srgbClr val="E04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3990231" y="457200"/>
            <a:ext cx="1684734" cy="99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META-LEARNING FRAMEWORK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3925119" y="622771"/>
            <a:ext cx="4722763" cy="712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Learning Across Diverse LEO Channel Conditions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925119" y="1459706"/>
            <a:ext cx="4722763" cy="311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task </a:t>
            </a:r>
            <a:r>
              <a:rPr lang="en-US" sz="85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T_i</a:t>
            </a: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represents a distinct LEO channel. MAML learns </a:t>
            </a:r>
            <a:r>
              <a:rPr lang="en-US" sz="85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\theta^*</a:t>
            </a: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across the task distribution </a:t>
            </a:r>
            <a:r>
              <a:rPr lang="en-US" sz="85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T_1, T_2, \ldots, T_N</a:t>
            </a: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rapid adaptation to unseen channels.</a:t>
            </a:r>
            <a:endParaRPr lang="en-US" sz="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864816"/>
            <a:ext cx="4722763" cy="6511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75063" y="2088654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456584" y="1987600"/>
            <a:ext cx="4068514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Task T₁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456584" y="2215455"/>
            <a:ext cx="406851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Elevation 20° · Doppler ~100 kHz · Shadowed-Rician · Low SNR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2599060"/>
            <a:ext cx="4722763" cy="65119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075063" y="2822897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4456584" y="2721843"/>
            <a:ext cx="4068514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Task T₂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456584" y="2949699"/>
            <a:ext cx="406851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Elevation 45° · Moderate Doppler · Variable fading · Medium SNR</a:t>
            </a:r>
            <a:endParaRPr lang="en-US" sz="8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3333304"/>
            <a:ext cx="4722763" cy="65119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075063" y="3557141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4456584" y="3456087"/>
            <a:ext cx="4068514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Task T₃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456584" y="3683943"/>
            <a:ext cx="406851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Elevation 70° · Low Doppler · Different propagation · High SNR</a:t>
            </a:r>
            <a:endParaRPr lang="en-US" sz="8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4067547"/>
            <a:ext cx="4722763" cy="65119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075063" y="4291385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4456584" y="4190330"/>
            <a:ext cx="4068514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Task T_N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4456584" y="4418186"/>
            <a:ext cx="406851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Unseen environment — target for few-shot adaptation</a:t>
            </a:r>
            <a:endParaRPr lang="en-US" sz="8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3E763C5-76C2-6269-B27D-853073B054F8}"/>
              </a:ext>
            </a:extLst>
          </p:cNvPr>
          <p:cNvSpPr/>
          <p:nvPr/>
        </p:nvSpPr>
        <p:spPr>
          <a:xfrm>
            <a:off x="7947660" y="4883759"/>
            <a:ext cx="1173480" cy="1683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8831"/>
            <a:ext cx="678210" cy="127843"/>
          </a:xfrm>
          <a:prstGeom prst="roundRect">
            <a:avLst>
              <a:gd name="adj" fmla="val 7901"/>
            </a:avLst>
          </a:prstGeom>
          <a:noFill/>
          <a:ln w="4763">
            <a:solidFill>
              <a:srgbClr val="E04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6571" y="434057"/>
            <a:ext cx="1034504" cy="77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QUANTUM ENGINE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96119" y="556617"/>
            <a:ext cx="8151763" cy="276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Inside the Hybrid VQC Engine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907703"/>
            <a:ext cx="7890644" cy="29609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02209" y="3144112"/>
            <a:ext cx="1190147" cy="240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Measurement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502299" y="3023747"/>
            <a:ext cx="1190146" cy="481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VQC 4→8 qubits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010540" y="3023747"/>
            <a:ext cx="1190146" cy="481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Angle Encoding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518781" y="3023747"/>
            <a:ext cx="1190146" cy="481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94415" y="3144112"/>
            <a:ext cx="1190146" cy="240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I/Q Samples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96119" y="3974753"/>
            <a:ext cx="397319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Angle Encoding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96119" y="4162797"/>
            <a:ext cx="3973190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Classical features are encoded via </a:t>
            </a:r>
            <a:r>
              <a:rPr lang="en-US" sz="65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R_y</a:t>
            </a:r>
            <a:r>
              <a:rPr lang="en-US" sz="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r>
              <a:rPr lang="en-US" sz="65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R_z</a:t>
            </a:r>
            <a:r>
              <a:rPr lang="en-US" sz="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rotations. </a:t>
            </a:r>
            <a:r>
              <a:rPr lang="en-US" sz="65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Data re-uploading</a:t>
            </a:r>
            <a:r>
              <a:rPr lang="en-US" sz="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injects input repeatedly across layers to enhance representational capacity.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4679454" y="3974753"/>
            <a:ext cx="397319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VQC Architecture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679454" y="4162797"/>
            <a:ext cx="3973190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Initial design uses </a:t>
            </a:r>
            <a:r>
              <a:rPr lang="en-US" sz="65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4 qubits</a:t>
            </a:r>
            <a:r>
              <a:rPr lang="en-US" sz="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with a planned scale-up to </a:t>
            </a:r>
            <a:r>
              <a:rPr lang="en-US" sz="65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8 qubits</a:t>
            </a:r>
            <a:r>
              <a:rPr lang="en-US" sz="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Measurement expectation values </a:t>
            </a:r>
            <a:r>
              <a:rPr lang="en-US" sz="65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\langle Z \rangle</a:t>
            </a:r>
            <a:r>
              <a:rPr lang="en-US" sz="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produce classical outputs.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4679454" y="4439245"/>
            <a:ext cx="3973190" cy="239167"/>
          </a:xfrm>
          <a:prstGeom prst="roundRect">
            <a:avLst>
              <a:gd name="adj" fmla="val 5279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3616" y="4517454"/>
            <a:ext cx="105147" cy="8416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952926" y="4505176"/>
            <a:ext cx="4072756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Research focus:</a:t>
            </a:r>
            <a:r>
              <a:rPr lang="en-US" sz="6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Parameter efficiency — not quantum supremacy.</a:t>
            </a:r>
            <a:endParaRPr lang="en-US" sz="6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9400E2-6376-95B2-EF23-7B1B5E3A11FA}"/>
              </a:ext>
            </a:extLst>
          </p:cNvPr>
          <p:cNvSpPr/>
          <p:nvPr/>
        </p:nvSpPr>
        <p:spPr>
          <a:xfrm>
            <a:off x="7947660" y="4883759"/>
            <a:ext cx="1173480" cy="1683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856431" cy="107603"/>
          </a:xfrm>
          <a:prstGeom prst="roundRect">
            <a:avLst>
              <a:gd name="adj" fmla="val 7905"/>
            </a:avLst>
          </a:prstGeom>
          <a:noFill/>
          <a:ln w="4763">
            <a:solidFill>
              <a:srgbClr val="E04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38609" y="411063"/>
            <a:ext cx="1228651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META-LEARNING ALGORITHM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MAML: Learning How to Adapt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797272"/>
            <a:ext cx="8020050" cy="39425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486392" y="1161152"/>
            <a:ext cx="1925826" cy="24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Outer Loop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486392" y="1467093"/>
            <a:ext cx="3708999" cy="13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Aggregate losses, update θ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486392" y="2082288"/>
            <a:ext cx="1925826" cy="24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Evaluate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486392" y="2388229"/>
            <a:ext cx="3708999" cy="13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 θ'_i on query data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486392" y="3003424"/>
            <a:ext cx="1925826" cy="24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Gradient Update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486392" y="3309365"/>
            <a:ext cx="3708999" cy="13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θ'_i = θ - α ∇_θ L_{T_i}(θ)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494543" y="3924560"/>
            <a:ext cx="1925826" cy="24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Inner Loop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494543" y="4230501"/>
            <a:ext cx="3708999" cy="13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Adapt θ to task T_i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96119" y="4815036"/>
            <a:ext cx="3989412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Inner Loop — Adapt to Task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96119" y="4966692"/>
            <a:ext cx="4446612" cy="8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each channel task </a:t>
            </a:r>
            <a:r>
              <a:rPr lang="en-US" sz="55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T_i</a:t>
            </a:r>
            <a:r>
              <a:rPr lang="en-US" sz="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compute </a:t>
            </a:r>
            <a:r>
              <a:rPr lang="en-US" sz="55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\theta_i' = \theta - \alpha \nabla_\theta L_{T_i}(\theta)</a:t>
            </a:r>
            <a:r>
              <a:rPr lang="en-US" sz="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using support data.</a:t>
            </a:r>
            <a:endParaRPr lang="en-US" sz="550" dirty="0"/>
          </a:p>
        </p:txBody>
      </p:sp>
      <p:sp>
        <p:nvSpPr>
          <p:cNvPr id="16" name="Text 13"/>
          <p:cNvSpPr/>
          <p:nvPr/>
        </p:nvSpPr>
        <p:spPr>
          <a:xfrm>
            <a:off x="4663232" y="4815036"/>
            <a:ext cx="3989412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Outer Loop — Improve Initialization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663232" y="4966692"/>
            <a:ext cx="4446612" cy="8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Aggregate query losses across tasks to update </a:t>
            </a:r>
            <a:r>
              <a:rPr lang="en-US" sz="55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\theta \to \theta^*</a:t>
            </a:r>
            <a:r>
              <a:rPr lang="en-US" sz="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enabling rapid adaptation to new channels.</a:t>
            </a:r>
            <a:endParaRPr lang="en-US" sz="5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A53916-D546-02E6-7533-01AB84AB7337}"/>
              </a:ext>
            </a:extLst>
          </p:cNvPr>
          <p:cNvSpPr/>
          <p:nvPr/>
        </p:nvSpPr>
        <p:spPr>
          <a:xfrm>
            <a:off x="7947660" y="4883759"/>
            <a:ext cx="1173480" cy="1683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396776"/>
            <a:ext cx="984870" cy="168250"/>
          </a:xfrm>
          <a:prstGeom prst="roundRect">
            <a:avLst>
              <a:gd name="adj" fmla="val 7899"/>
            </a:avLst>
          </a:prstGeom>
          <a:noFill/>
          <a:ln w="4763">
            <a:solidFill>
              <a:srgbClr val="E04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3991570" y="429964"/>
            <a:ext cx="1309167" cy="101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ADAPTATION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3925119" y="599629"/>
            <a:ext cx="4722763" cy="726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From Unseen Channel to Adapted Estimator</a:t>
            </a:r>
            <a:endParaRPr lang="en-US" sz="2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119" y="1456134"/>
            <a:ext cx="553715" cy="664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65303" y="1566863"/>
            <a:ext cx="4082579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Detect Unseen Channel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65303" y="1800374"/>
            <a:ext cx="4082579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 environment encountered; begin with </a:t>
            </a:r>
            <a:r>
              <a:rPr lang="en-US" sz="85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\theta^*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5119" y="2120652"/>
            <a:ext cx="553715" cy="664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65303" y="2231380"/>
            <a:ext cx="4082579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Micro-Sampling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565303" y="2464891"/>
            <a:ext cx="4082579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Collect only </a:t>
            </a:r>
            <a:r>
              <a:rPr lang="en-US" sz="85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10–20 pilot symbols</a:t>
            </a:r>
            <a:endParaRPr lang="en-US" sz="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5119" y="2785170"/>
            <a:ext cx="553715" cy="664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565303" y="2895898"/>
            <a:ext cx="4082579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Rapid Adaptation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4565303" y="3129409"/>
            <a:ext cx="4082579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Perform </a:t>
            </a:r>
            <a:r>
              <a:rPr lang="en-US" sz="85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5–10 gradient updates</a:t>
            </a: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</a:t>
            </a:r>
            <a:r>
              <a:rPr lang="en-US" sz="85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\theta^* \to \theta^{(1)} \to \cdots \to \theta'</a:t>
            </a:r>
            <a:endParaRPr lang="en-US" sz="8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5119" y="3449687"/>
            <a:ext cx="553715" cy="664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565303" y="3560415"/>
            <a:ext cx="4082579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Channel Estimation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4565303" y="3793927"/>
            <a:ext cx="4082579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 </a:t>
            </a:r>
            <a:r>
              <a:rPr lang="en-US" sz="85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\hat{h}</a:t>
            </a: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equalization, symbol detection, and communication processing</a:t>
            </a:r>
            <a:endParaRPr lang="en-US" sz="850" dirty="0"/>
          </a:p>
        </p:txBody>
      </p:sp>
      <p:sp>
        <p:nvSpPr>
          <p:cNvPr id="18" name="Shape 11"/>
          <p:cNvSpPr/>
          <p:nvPr/>
        </p:nvSpPr>
        <p:spPr>
          <a:xfrm>
            <a:off x="3925119" y="4211538"/>
            <a:ext cx="4722763" cy="535186"/>
          </a:xfrm>
          <a:prstGeom prst="roundRect">
            <a:avLst>
              <a:gd name="adj" fmla="val 3104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35847" y="4333577"/>
            <a:ext cx="138410" cy="11072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284985" y="4325689"/>
            <a:ext cx="4252168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Few samples + few updates → rapid channel adaptation.</a:t>
            </a:r>
            <a:r>
              <a:rPr lang="en-US" sz="8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Experimental validation pending.</a:t>
            </a:r>
            <a:endParaRPr lang="en-US" sz="8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EA0AEE-6F4E-B660-D124-18E1F3105893}"/>
              </a:ext>
            </a:extLst>
          </p:cNvPr>
          <p:cNvSpPr/>
          <p:nvPr/>
        </p:nvSpPr>
        <p:spPr>
          <a:xfrm>
            <a:off x="7947660" y="4883759"/>
            <a:ext cx="1173480" cy="1683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4755"/>
            <a:ext cx="759396" cy="198462"/>
          </a:xfrm>
          <a:prstGeom prst="roundRect">
            <a:avLst>
              <a:gd name="adj" fmla="val 7902"/>
            </a:avLst>
          </a:prstGeom>
          <a:noFill/>
          <a:ln w="4763">
            <a:solidFill>
              <a:srgbClr val="E04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74477" y="463897"/>
            <a:ext cx="1059879" cy="12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EVALUATION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71364"/>
            <a:ext cx="8151763" cy="428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Will QuantumMeta-Sat Be Evaluated?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96119" y="1416323"/>
            <a:ext cx="4763542" cy="2612139"/>
          </a:xfrm>
          <a:prstGeom prst="roundRect">
            <a:avLst>
              <a:gd name="adj" fmla="val 61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96119" y="1979191"/>
            <a:ext cx="4763542" cy="81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96119" y="2338834"/>
            <a:ext cx="4763542" cy="81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96119" y="2899321"/>
            <a:ext cx="4763542" cy="81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96119" y="3459807"/>
            <a:ext cx="4763542" cy="81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96119" y="4020294"/>
            <a:ext cx="4763542" cy="81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31701" y="1498104"/>
            <a:ext cx="152697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Model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62820" y="1498104"/>
            <a:ext cx="594345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Quantum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18507" y="1498104"/>
            <a:ext cx="594345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Meta-Learning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74194" y="1498104"/>
            <a:ext cx="190723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Purpose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1701" y="2058591"/>
            <a:ext cx="152697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Classical CNN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62820" y="2058591"/>
            <a:ext cx="105154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18507" y="2058591"/>
            <a:ext cx="105154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74194" y="2058591"/>
            <a:ext cx="190723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Classical ML baseline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1701" y="2418234"/>
            <a:ext cx="152697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Classical MAML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62820" y="2418234"/>
            <a:ext cx="105154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18507" y="2418234"/>
            <a:ext cx="105154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74194" y="2418234"/>
            <a:ext cx="145003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Measure meta-learning benefit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1701" y="2978721"/>
            <a:ext cx="152697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Fixed QCNN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62820" y="2978721"/>
            <a:ext cx="105154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818507" y="2978721"/>
            <a:ext cx="105154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74194" y="2978721"/>
            <a:ext cx="145003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Measure quantum architecture benefit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962820" y="3539207"/>
            <a:ext cx="105154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18507" y="3539207"/>
            <a:ext cx="105154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2377" y="3583316"/>
            <a:ext cx="1069777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E04F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QuantumMeta-Sat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987228" y="3647181"/>
            <a:ext cx="105154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E04F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Yes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818507" y="3647181"/>
            <a:ext cx="105154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E04F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Yes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74194" y="3672722"/>
            <a:ext cx="190723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E04F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Proposed architecture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83213" y="1401291"/>
            <a:ext cx="3069431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Ablation Studies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583213" y="1736154"/>
            <a:ext cx="352663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Isolate each component's contribution: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583213" y="2045419"/>
            <a:ext cx="3069431" cy="6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Remove quantum layer → classical MAML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Remove MAML → fixed QCNN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Both included → full QuantumMeta-Sat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83213" y="2840608"/>
            <a:ext cx="3069431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Performance to be evaluated — no results claimed at this stage.</a:t>
            </a:r>
            <a:endParaRPr lang="en-US" sz="10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487174C-B03A-2330-F1FB-248D5FBFE605}"/>
              </a:ext>
            </a:extLst>
          </p:cNvPr>
          <p:cNvSpPr/>
          <p:nvPr/>
        </p:nvSpPr>
        <p:spPr>
          <a:xfrm>
            <a:off x="7947660" y="4883759"/>
            <a:ext cx="1173480" cy="1683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2924"/>
            <a:ext cx="1097012" cy="201885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E04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75816" y="452735"/>
            <a:ext cx="1394817" cy="122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SUCCESS CRITERIA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64592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Does Success Look Like?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96119" y="1353964"/>
            <a:ext cx="3997970" cy="43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NMSE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496119" y="1952402"/>
            <a:ext cx="399797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Channel Estimation Accuracy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098653" y="2139212"/>
            <a:ext cx="2071903" cy="45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49837" y="1353964"/>
            <a:ext cx="3998044" cy="43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BER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4649837" y="1952402"/>
            <a:ext cx="3998044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Communication Impact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49837" y="2351968"/>
            <a:ext cx="399804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Bit and symbol error rates — lower is better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6119" y="2778249"/>
            <a:ext cx="3997970" cy="43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&lt;10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496119" y="3376687"/>
            <a:ext cx="399797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Convergence Velocity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6119" y="3669432"/>
            <a:ext cx="399797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Target: fewer than 10 adaptation steps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49837" y="2778249"/>
            <a:ext cx="3998044" cy="43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20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4649837" y="3376687"/>
            <a:ext cx="3998044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Sample Efficiency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49837" y="3669432"/>
            <a:ext cx="399804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Evaluate with 1, 5, 10, and 20 pilot samples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6119" y="4015532"/>
            <a:ext cx="8151763" cy="714970"/>
          </a:xfrm>
          <a:prstGeom prst="roundRect">
            <a:avLst>
              <a:gd name="adj" fmla="val 2788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22" y="4195093"/>
            <a:ext cx="166092" cy="13290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28018" y="4173289"/>
            <a:ext cx="7586960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Additional metric: </a:t>
            </a:r>
            <a:r>
              <a:rPr lang="en-US" sz="10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Computational Footprint</a:t>
            </a:r>
            <a:r>
              <a:rPr lang="en-US" sz="1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trainable parameter count and real-time adaptation latency to be measured.</a:t>
            </a:r>
            <a:endParaRPr lang="en-US" sz="1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8C5534-7E6F-F0D1-96A2-920B468687EE}"/>
              </a:ext>
            </a:extLst>
          </p:cNvPr>
          <p:cNvSpPr/>
          <p:nvPr/>
        </p:nvSpPr>
        <p:spPr>
          <a:xfrm>
            <a:off x="7947660" y="4883759"/>
            <a:ext cx="1173480" cy="1683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775</Words>
  <Application>Microsoft Macintosh PowerPoint</Application>
  <PresentationFormat>On-screen Show (16:9)</PresentationFormat>
  <Paragraphs>128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DM Sans Bold</vt:lpstr>
      <vt:lpstr>Arial</vt:lpstr>
      <vt:lpstr>PT Serif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Suryoday Pratap Singh</cp:lastModifiedBy>
  <cp:revision>5</cp:revision>
  <dcterms:created xsi:type="dcterms:W3CDTF">2026-08-11T16:38:50Z</dcterms:created>
  <dcterms:modified xsi:type="dcterms:W3CDTF">2026-08-12T09:51:10Z</dcterms:modified>
</cp:coreProperties>
</file>